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841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This presentation covers the Bluestock Fintech Mutual Fund Analytics Platform — a 7-day capstone project. We'll walk through the data pipeline, EDA findings, risk metrics, dashboard, and key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Indian mutual fund industry has unprecedented data richness but lacks integrated analytics. Our platform bridges that gap — delivering institutional-grade insights using 100% public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data is sourced from AMFI India, mfapi.in REST API, and NSE/BSE public records. The 10 datasets span January 2022 to May 2026, giving us over 4 years of real market data to analyse.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is fully automated via etl_pipeline.py. Data flows from raw CSVs and the mfapi.in API through pandas transformations into a SQLite database with a star schema optimised for Power BI DAX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SIP inflows grew from 11,517 crore in January 2022 to a record 31,002 crore in December 2025 — a 169% increase. SBI MF leads the industry with 12.5 lakh crore AUM. Folio counts doubled from 13 to 26 crore.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26-35 age group leads with 41% of transactions. T30 cities dominate at 66% but B30 cities are growing 19% year-on-year. SIP accounts for 60% of all transactions, with Redemption spiking in March — a tax harvesting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Mirae Asset Large Cap Fund tops our composite scorecard with 86.25 out of 100. The scorecard combines 3-year CAGR, Sharpe ratio, Alpha, expense ratio, and max drawdown. All top 5 funds outperformed the Nifty 100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Cap funds carry 12 times the tail risk of Liquid funds. VaR at 95% confidence means: on any given day, there's a 5% chance of losing more than this amount. CVaR tells us what the average loss looks like on those worst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Power BI dashboard has 4 pages. Page 1 shows industry-level KPIs: AUM, folio count, SIP trends. Page 2 drills into fund-level risk: Sharpe vs Sortino scatter, Max Drawdown bars, and Alpha ranking. Every page has 2+ interactive slicers.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3 visualises investor behaviour: age/income distribution, SIP vs lumpsum split, redemption patterns, and a state-level choropleth. Page 4 shows sector HHI concentration, sunburst of top holdings, and stock-level weights across the top 5 funds.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three standout recommendations: First, SIP continuity campaigns — 97.8% at-risk rate is a massive retention opportunity. Second, Mirae Asset Large Cap as the core equity holding for moderate-risk investors. Third, operationalise the recommender.py as a live product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time. The full codebase, notebooks, and dashboard are available on GitHub. I'm happy to walk through any specific section — the ETL pipeline, the risk metrics calculation, or the Power BI dashboard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2B"/>
          </a:solidFill>
          <a:ln w="12700">
            <a:solidFill>
              <a:srgbClr val="C897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94360"/>
            <a:ext cx="8046720" cy="3291840"/>
          </a:xfrm>
          <a:prstGeom prst="roundRect">
            <a:avLst>
              <a:gd name="adj" fmla="val 4167"/>
            </a:avLst>
          </a:prstGeom>
          <a:solidFill>
            <a:srgbClr val="FFFFFF">
              <a:alpha val="95000"/>
            </a:srgbClr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777240"/>
            <a:ext cx="7498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FUND ANALYTICS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VRINDESH PAREEK | Data Analyst Intern </a:t>
            </a:r>
            <a:r>
              <a:rPr lang="en-US" sz="4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Pipeline  •  Risk Analytics  •  Interactive Dashboard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A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AMFI India  •  mfapi.in  •  NSE/BSE Public Records  |  June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C8972B"/>
          </a:solidFill>
          <a:ln w="12700">
            <a:solidFill>
              <a:srgbClr val="C8972B"/>
            </a:solidFill>
            <a:prstDash val="solid"/>
          </a:ln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E11643-3276-1E73-AA3D-6ACA9F3B0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516" y="2974795"/>
            <a:ext cx="3089273" cy="3942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set out to solve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977640" cy="3474720"/>
          </a:xfrm>
          <a:prstGeom prst="roundRect">
            <a:avLst>
              <a:gd name="adj" fmla="val 3158"/>
            </a:avLst>
          </a:prstGeom>
          <a:solidFill>
            <a:srgbClr val="F2F5F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MF industry manages ₹65L+ Cr AUM with no unified
analytic framework for:
•  Comparing fund risk-adjusted performance
•  Understanding investor SIP behaviour
•  Identifying concentration &amp; tail risk
•  Tracking AUM trends vs. benchmarks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143000"/>
            <a:ext cx="4389120" cy="3474720"/>
          </a:xfrm>
          <a:prstGeom prst="roundRect">
            <a:avLst>
              <a:gd name="adj" fmla="val 3158"/>
            </a:avLst>
          </a:prstGeom>
          <a:solidFill>
            <a:srgbClr val="EAF6F6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2344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Core Objectives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1691640"/>
            <a:ext cx="4160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O1  Python ETL pipeline from AMFI / mfapi.in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O2  Normalised SQL star schema (5+ tables)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O3  EDA — 15+ charts across all datasets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O4  Sharpe, Sortino, Alpha, Beta, VaR, MaxDD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O5  4-page Power BI interactive dashboard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O6  Investor demographics &amp; cohort analysis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O7  Benchmark vs Nifty 50 / Nifty 100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O8  PDF report + 12-slide presentation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Fintech  |  Mutual Fund Analytics    |  Slide 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&amp; Scale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public data — no API keys required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1B3A6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AMFI India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89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amfiindia.com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84708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history, SIP inflows,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folio counts, AUM data,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inflows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1B3A6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1887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mfapi.in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155448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89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84708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&amp; historical NAV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5 key schemes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/mf/{scheme_code}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1B3A6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1887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NSE / BSE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26480" y="155448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89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Records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184708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benchmark closes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Nifty 50, 100, Midcap 150,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BSE SmallCap, CRISIL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834640"/>
            <a:ext cx="2514600" cy="713232"/>
          </a:xfrm>
          <a:prstGeom prst="roundRect">
            <a:avLst>
              <a:gd name="adj" fmla="val 10256"/>
            </a:avLst>
          </a:prstGeom>
          <a:solidFill>
            <a:srgbClr val="EAF6F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880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2920" y="322783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834640"/>
            <a:ext cx="2514600" cy="713232"/>
          </a:xfrm>
          <a:prstGeom prst="roundRect">
            <a:avLst>
              <a:gd name="adj" fmla="val 10256"/>
            </a:avLst>
          </a:prstGeom>
          <a:solidFill>
            <a:srgbClr val="F2F5FA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2880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64,320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91840" y="322783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Records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2834640"/>
            <a:ext cx="2514600" cy="713232"/>
          </a:xfrm>
          <a:prstGeom prst="roundRect">
            <a:avLst>
              <a:gd name="adj" fmla="val 10256"/>
            </a:avLst>
          </a:prstGeom>
          <a:solidFill>
            <a:srgbClr val="EAF6F6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2880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32,778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080760" y="322783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703320"/>
            <a:ext cx="2514600" cy="713232"/>
          </a:xfrm>
          <a:prstGeom prst="roundRect">
            <a:avLst>
              <a:gd name="adj" fmla="val 10256"/>
            </a:avLst>
          </a:prstGeom>
          <a:solidFill>
            <a:srgbClr val="F2F5F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749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02920" y="40965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91840" y="3703320"/>
            <a:ext cx="2514600" cy="713232"/>
          </a:xfrm>
          <a:prstGeom prst="roundRect">
            <a:avLst>
              <a:gd name="adj" fmla="val 10256"/>
            </a:avLst>
          </a:prstGeom>
          <a:solidFill>
            <a:srgbClr val="EAF6F6"/>
          </a:solidFill>
          <a:ln/>
        </p:spPr>
      </p:sp>
      <p:sp>
        <p:nvSpPr>
          <p:cNvPr id="30" name="Text 28"/>
          <p:cNvSpPr/>
          <p:nvPr/>
        </p:nvSpPr>
        <p:spPr>
          <a:xfrm>
            <a:off x="3291840" y="3749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291840" y="40965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80760" y="3703320"/>
            <a:ext cx="2514600" cy="713232"/>
          </a:xfrm>
          <a:prstGeom prst="roundRect">
            <a:avLst>
              <a:gd name="adj" fmla="val 10256"/>
            </a:avLst>
          </a:prstGeom>
          <a:solidFill>
            <a:srgbClr val="F2F5FA"/>
          </a:solidFill>
          <a:ln/>
        </p:spPr>
      </p:sp>
      <p:sp>
        <p:nvSpPr>
          <p:cNvPr id="33" name="Text 31"/>
          <p:cNvSpPr/>
          <p:nvPr/>
        </p:nvSpPr>
        <p:spPr>
          <a:xfrm>
            <a:off x="6080760" y="3749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8,050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080760" y="40965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Rows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Fintech  | Mutual Fund Analytics    |  Slide 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 &amp;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→ Transform → Load → Analyse → Visualise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1508760" cy="1554480"/>
          </a:xfrm>
          <a:prstGeom prst="roundRect">
            <a:avLst>
              <a:gd name="adj" fmla="val 7273"/>
            </a:avLst>
          </a:prstGeom>
          <a:solidFill>
            <a:srgbClr val="1B3A6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26187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" y="169164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1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mfapi.in API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1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Local CSVs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91640" y="1965960"/>
            <a:ext cx="228600" cy="0"/>
          </a:xfrm>
          <a:prstGeom prst="line">
            <a:avLst/>
          </a:prstGeom>
          <a:noFill/>
          <a:ln w="31750">
            <a:solidFill>
              <a:srgbClr val="C897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1188720"/>
            <a:ext cx="1508760" cy="1554480"/>
          </a:xfrm>
          <a:prstGeom prst="roundRect">
            <a:avLst>
              <a:gd name="adj" fmla="val 7273"/>
            </a:avLst>
          </a:prstGeom>
          <a:solidFill>
            <a:srgbClr val="0D7377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126187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169164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1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cleaning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1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casting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1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ffill holidays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9000" y="1965960"/>
            <a:ext cx="228600" cy="0"/>
          </a:xfrm>
          <a:prstGeom prst="line">
            <a:avLst/>
          </a:prstGeom>
          <a:noFill/>
          <a:ln w="31750">
            <a:solidFill>
              <a:srgbClr val="C89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1188720"/>
            <a:ext cx="1508760" cy="1554480"/>
          </a:xfrm>
          <a:prstGeom prst="roundRect">
            <a:avLst>
              <a:gd name="adj" fmla="val 7273"/>
            </a:avLst>
          </a:prstGeom>
          <a:solidFill>
            <a:srgbClr val="2D6A4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0" y="126187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169164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1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1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ORM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1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66360" y="1965960"/>
            <a:ext cx="228600" cy="0"/>
          </a:xfrm>
          <a:prstGeom prst="line">
            <a:avLst/>
          </a:prstGeom>
          <a:noFill/>
          <a:ln w="31750">
            <a:solidFill>
              <a:srgbClr val="C89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1188720"/>
            <a:ext cx="1508760" cy="1554480"/>
          </a:xfrm>
          <a:prstGeom prst="roundRect">
            <a:avLst>
              <a:gd name="adj" fmla="val 7273"/>
            </a:avLst>
          </a:prstGeom>
          <a:solidFill>
            <a:srgbClr val="92400E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94960" y="126187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169164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1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metrics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1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Sharpe/VaR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1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Alpha/Beta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03720" y="1965960"/>
            <a:ext cx="228600" cy="0"/>
          </a:xfrm>
          <a:prstGeom prst="line">
            <a:avLst/>
          </a:prstGeom>
          <a:noFill/>
          <a:ln w="31750">
            <a:solidFill>
              <a:srgbClr val="C89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0" y="1188720"/>
            <a:ext cx="1508760" cy="1554480"/>
          </a:xfrm>
          <a:prstGeom prst="roundRect">
            <a:avLst>
              <a:gd name="adj" fmla="val 7273"/>
            </a:avLst>
          </a:prstGeom>
          <a:solidFill>
            <a:srgbClr val="7C3AED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32320" y="126187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169164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1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1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4-page dashboard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1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Notebooks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4320" y="29718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 Design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74320" y="338328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F2F5F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" y="345643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dim_fund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385876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11680" y="338328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F2F5F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011680" y="345643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fact_nav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11680" y="385876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(64K rows)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49040" y="338328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F2F5F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749040" y="345643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fact_transactions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49040" y="385876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(32K rows)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0" y="338328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F2F5F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86400" y="345643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fact_aum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0" y="385876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23760" y="338328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F2F5F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223760" y="345643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bridge_benchmark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23760" y="385876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Fintech  | Mutual Fund Analytics    |  Slide 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Highlights — Market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 growth, SIP milestone &amp; NAV trends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937760" cy="200802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5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011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32120" y="1143000"/>
            <a:ext cx="3337560" cy="868680"/>
          </a:xfrm>
          <a:prstGeom prst="roundRect">
            <a:avLst>
              <a:gd name="adj" fmla="val 12632"/>
            </a:avLst>
          </a:prstGeom>
          <a:solidFill>
            <a:srgbClr val="0D7377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32120" y="1216152"/>
            <a:ext cx="3337560" cy="45171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₹31,002 Cr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532120" y="1612087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SIP Inflow — Dec 2025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32120" y="2103120"/>
            <a:ext cx="3337560" cy="868680"/>
          </a:xfrm>
          <a:prstGeom prst="roundRect">
            <a:avLst>
              <a:gd name="adj" fmla="val 12632"/>
            </a:avLst>
          </a:prstGeom>
          <a:solidFill>
            <a:srgbClr val="1B3A6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32120" y="2176272"/>
            <a:ext cx="3337560" cy="45171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+169%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32120" y="2572207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Growth Jan 2022–Dec 2025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32120" y="3063240"/>
            <a:ext cx="3337560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32120" y="3136392"/>
            <a:ext cx="3337560" cy="45171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26.12 Cr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532120" y="3532327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Folios (Dec 2025)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05886"/>
            <a:ext cx="4937760" cy="1594714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5D5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8633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 leads AUM at ₹12.5L Cr  •  Industry AUM grew ~41% between 2022–2025  •  Equity-oriented categories drove 68% of net inflows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Fintech  | Mutual Fund Analytics    |  Slide 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Highlights — Investor Demographics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Age, geography &amp; transaction patterns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206240" cy="18288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5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874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206240" cy="18288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5D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874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3090672"/>
            <a:ext cx="4149969" cy="164592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274320" y="37307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3090672"/>
            <a:ext cx="4206240" cy="164592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5D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7307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Fintech  | Mutual Fund Analytics    |  Slide 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Performance Metrics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Sharpe, Sortino, Alpha, Beta &amp; Composite Scorecard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Funds — Composite Scorecard (0–100)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08760"/>
          <a:ext cx="7452360" cy="164592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Fund Name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3Yr CAGR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Alpha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#1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Mirae Asset Large Cap — Regular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86.25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34.0%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1.07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0.27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#2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ICICI Pru Midcap — Regular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82.88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31.8%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0.29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#3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Kotak Flexicap — Regular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82.00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29.6%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0.27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#4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HDFC Mid-Cap Opp — Regular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80.75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32.4%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0.27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#5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ICICI Pru Bluechip — Direct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79.38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32.5%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0.71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0.21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114587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formula: 30% × 3yr CAGR rank + 25% × Sharpe rank + 20% × Alpha rank + 15% × Expense ratio rank⁻¹ + 10% × MaxDD rank⁻¹</a:t>
            </a:r>
            <a:endParaRPr lang="en-US" sz="1100" dirty="0"/>
          </a:p>
        </p:txBody>
      </p:sp>
      <p:sp>
        <p:nvSpPr>
          <p:cNvPr id="6" name="Shape 5"/>
          <p:cNvSpPr/>
          <p:nvPr/>
        </p:nvSpPr>
        <p:spPr>
          <a:xfrm>
            <a:off x="274320" y="3439551"/>
            <a:ext cx="8595360" cy="134276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274320" y="416509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Fintech  | Mutual Fund Analytics    |  Slide 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Analytics — VaR, CVaR &amp; Drawdown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Tail-risk quantified for all 40 schemes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95% Daily — Risk Spectrum (Low → High)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60934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−0.02%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93392" y="1536192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160934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−0.08%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93392" y="20574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12464" y="1536192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C8972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12464" y="160934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−1.2%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12464" y="20574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Cap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31536" y="1536192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31536" y="160934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−1.8%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31536" y="20574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Cap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50608" y="1536192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50608" y="160934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−2.4%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50608" y="20574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Cap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263347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 Findings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3035808"/>
            <a:ext cx="8595360" cy="365760"/>
          </a:xfrm>
          <a:prstGeom prst="roundRect">
            <a:avLst>
              <a:gd name="adj" fmla="val 17500"/>
            </a:avLst>
          </a:prstGeom>
          <a:solidFill>
            <a:srgbClr val="F2F5FA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06324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 Worst VaR: ABSL Small Cap at −2.39%/day | CVaR −3.03% — expect to lose &gt;3% on worst 5% of days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474720"/>
            <a:ext cx="8595360" cy="365760"/>
          </a:xfrm>
          <a:prstGeom prst="roundRect">
            <a:avLst>
              <a:gd name="adj" fmla="val 17500"/>
            </a:avLst>
          </a:prstGeom>
          <a:solidFill>
            <a:srgbClr val="EAF6F6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3502152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Best VaR: ICICI Pru Liquid at −0.02%/day — 120× less tail risk than Small Cap funds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913632"/>
            <a:ext cx="8595360" cy="365760"/>
          </a:xfrm>
          <a:prstGeom prst="roundRect">
            <a:avLst>
              <a:gd name="adj" fmla="val 17500"/>
            </a:avLst>
          </a:prstGeom>
          <a:solidFill>
            <a:srgbClr val="F2F5FA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3941064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Max Drawdown: SBI Small Cap Direct hit −52.6% peak-to-trough in 2022–23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352544"/>
            <a:ext cx="8595360" cy="365760"/>
          </a:xfrm>
          <a:prstGeom prst="roundRect">
            <a:avLst>
              <a:gd name="adj" fmla="val 17500"/>
            </a:avLst>
          </a:prstGeom>
          <a:solidFill>
            <a:srgbClr val="EAF6F6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4379976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Rolling 90-day Sharpe peaked &gt;3.0 during 2023 bull run; compressed &lt;1.0 in late 2024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Fintech  | Mutual Fund Analytics    |  Slide 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— Page 1 &amp;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Overview + Fund Performance &amp; Risk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4251960" cy="347472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5D5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228600" y="269748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251960" cy="347472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5D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69748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" y="4602246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 — Market Overview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4626864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— Fund Performance &amp; Risk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Fintech  | Mutual Fund Analytics   |  Slide 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— Page 3 &amp; 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Demographics + Portfolio Holdings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4251960" cy="347472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5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269748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251960" cy="347472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5D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69748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" y="4626864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— Investor Demographics &amp; Transactions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461983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— Portfolio Holdings &amp; Sector Exposure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Fintech  | Mutual Fund Analytics    |  Slide 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&amp; 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insights for AMCs &amp; investors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1155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Key Findings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4114800" cy="438912"/>
          </a:xfrm>
          <a:prstGeom prst="roundRect">
            <a:avLst>
              <a:gd name="adj" fmla="val 14583"/>
            </a:avLst>
          </a:prstGeom>
          <a:solidFill>
            <a:srgbClr val="F2F5FA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5727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SIP inflows grew 169% in 4 years (₹11,517 Cr → ₹31,002 Cr)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048256"/>
            <a:ext cx="4114800" cy="438912"/>
          </a:xfrm>
          <a:prstGeom prst="roundRect">
            <a:avLst>
              <a:gd name="adj" fmla="val 14583"/>
            </a:avLst>
          </a:prstGeom>
          <a:solidFill>
            <a:srgbClr val="EAF6F6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208483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Top fund: Mirae Asset Large Cap scored 86.25/100 on scorecard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560320"/>
            <a:ext cx="4114800" cy="438912"/>
          </a:xfrm>
          <a:prstGeom prst="roundRect">
            <a:avLst>
              <a:gd name="adj" fmla="val 14583"/>
            </a:avLst>
          </a:prstGeom>
          <a:solidFill>
            <a:srgbClr val="F2F5F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59689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Small Cap VaR is 120× that of Liquid funds — tail risk is real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4114800" cy="438912"/>
          </a:xfrm>
          <a:prstGeom prst="roundRect">
            <a:avLst>
              <a:gd name="adj" fmla="val 14583"/>
            </a:avLst>
          </a:prstGeom>
          <a:solidFill>
            <a:srgbClr val="EAF6F6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31089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97.8% of regular SIP investors show irregular payment gaps (&gt;35 days)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4114800" cy="438912"/>
          </a:xfrm>
          <a:prstGeom prst="roundRect">
            <a:avLst>
              <a:gd name="adj" fmla="val 14583"/>
            </a:avLst>
          </a:prstGeom>
          <a:solidFill>
            <a:srgbClr val="F2F5FA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362102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B30 cities growing 19% YoY — geographic MF adoption shift underway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4096512"/>
            <a:ext cx="4114800" cy="438912"/>
          </a:xfrm>
          <a:prstGeom prst="roundRect">
            <a:avLst>
              <a:gd name="adj" fmla="val 14583"/>
            </a:avLst>
          </a:prstGeom>
          <a:solidFill>
            <a:srgbClr val="EAF6F6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413308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Axis Bluechip &amp; ABSL Small Cap are most concentrated (HHI &gt; 0.18)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17720" y="1115568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Recommendations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17720" y="1536192"/>
            <a:ext cx="4251960" cy="438912"/>
          </a:xfrm>
          <a:prstGeom prst="roundRect">
            <a:avLst>
              <a:gd name="adj" fmla="val 14583"/>
            </a:avLst>
          </a:prstGeom>
          <a:solidFill>
            <a:srgbClr val="FFF7E6"/>
          </a:solidFill>
          <a:ln/>
        </p:spPr>
      </p:sp>
      <p:sp>
        <p:nvSpPr>
          <p:cNvPr id="20" name="Text 18"/>
          <p:cNvSpPr/>
          <p:nvPr/>
        </p:nvSpPr>
        <p:spPr>
          <a:xfrm>
            <a:off x="4690872" y="15727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9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[For AMCs] 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SIP nudge campaigns at day 32 post-last-debit to cut SIP dropout rates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2048256"/>
            <a:ext cx="4251960" cy="438912"/>
          </a:xfrm>
          <a:prstGeom prst="roundRect">
            <a:avLst>
              <a:gd name="adj" fmla="val 14583"/>
            </a:avLst>
          </a:prstGeom>
          <a:solidFill>
            <a:srgbClr val="F0FDF4"/>
          </a:solidFill>
          <a:ln/>
        </p:spPr>
      </p:sp>
      <p:sp>
        <p:nvSpPr>
          <p:cNvPr id="22" name="Text 20"/>
          <p:cNvSpPr/>
          <p:nvPr/>
        </p:nvSpPr>
        <p:spPr>
          <a:xfrm>
            <a:off x="4690872" y="20848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9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[For AMCs] 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B30 digital onboarding via Aadhaar eKYC + ₹100 min SIP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2560320"/>
            <a:ext cx="4251960" cy="438912"/>
          </a:xfrm>
          <a:prstGeom prst="roundRect">
            <a:avLst>
              <a:gd name="adj" fmla="val 14583"/>
            </a:avLst>
          </a:prstGeom>
          <a:solidFill>
            <a:srgbClr val="FFF7E6"/>
          </a:solidFill>
          <a:ln/>
        </p:spPr>
      </p:sp>
      <p:sp>
        <p:nvSpPr>
          <p:cNvPr id="24" name="Text 22"/>
          <p:cNvSpPr/>
          <p:nvPr/>
        </p:nvSpPr>
        <p:spPr>
          <a:xfrm>
            <a:off x="4690872" y="25968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9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[For Investors] 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 Large Cap is the top risk-adjusted holding for Moderate risk profiles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3072384"/>
            <a:ext cx="4251960" cy="438912"/>
          </a:xfrm>
          <a:prstGeom prst="roundRect">
            <a:avLst>
              <a:gd name="adj" fmla="val 14583"/>
            </a:avLst>
          </a:prstGeom>
          <a:solidFill>
            <a:srgbClr val="F0FDF4"/>
          </a:solidFill>
          <a:ln/>
        </p:spPr>
      </p:sp>
      <p:sp>
        <p:nvSpPr>
          <p:cNvPr id="26" name="Text 24"/>
          <p:cNvSpPr/>
          <p:nvPr/>
        </p:nvSpPr>
        <p:spPr>
          <a:xfrm>
            <a:off x="4690872" y="3108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9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[For Investors] 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Diversify: 60% Large Cap + 30% Mid Cap + 10% Debt for Sharpe-optimal portfolio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17720" y="3584448"/>
            <a:ext cx="4251960" cy="438912"/>
          </a:xfrm>
          <a:prstGeom prst="roundRect">
            <a:avLst>
              <a:gd name="adj" fmla="val 14583"/>
            </a:avLst>
          </a:prstGeom>
          <a:solidFill>
            <a:srgbClr val="FFF7E6"/>
          </a:solidFill>
          <a:ln/>
        </p:spPr>
      </p:sp>
      <p:sp>
        <p:nvSpPr>
          <p:cNvPr id="28" name="Text 26"/>
          <p:cNvSpPr/>
          <p:nvPr/>
        </p:nvSpPr>
        <p:spPr>
          <a:xfrm>
            <a:off x="4690872" y="362102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9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[For Bluestock] 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ETL as a daily cron job (8 PM IST) for live NAV refresh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4096512"/>
            <a:ext cx="4251960" cy="438912"/>
          </a:xfrm>
          <a:prstGeom prst="roundRect">
            <a:avLst>
              <a:gd name="adj" fmla="val 14583"/>
            </a:avLst>
          </a:prstGeom>
          <a:solidFill>
            <a:srgbClr val="F0FDF4"/>
          </a:solidFill>
          <a:ln/>
        </p:spPr>
      </p:sp>
      <p:sp>
        <p:nvSpPr>
          <p:cNvPr id="30" name="Text 28"/>
          <p:cNvSpPr/>
          <p:nvPr/>
        </p:nvSpPr>
        <p:spPr>
          <a:xfrm>
            <a:off x="4690872" y="41330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9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[For Bluestock] 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Streamlit app as browser-based alternative to Power BI Desktop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A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Fintech  | Mutual Fund Analytics   |  Slide 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2B"/>
          </a:solidFill>
          <a:ln w="12700">
            <a:solidFill>
              <a:srgbClr val="C897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822960"/>
            <a:ext cx="7680960" cy="2377440"/>
          </a:xfrm>
          <a:prstGeom prst="roundRect">
            <a:avLst>
              <a:gd name="adj" fmla="val 5769"/>
            </a:avLst>
          </a:prstGeom>
          <a:solidFill>
            <a:srgbClr val="FFFFFF">
              <a:alpha val="94000"/>
            </a:srgbClr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Fund Analytics Platform — BLUESTOCK FINTECH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33832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03320" y="33832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8587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A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Deliverables: etl_pipeline.py  •  bluestock_mf.db + schema.sql  •  EDA_Analysis.ipynb  •  Performance_Analytics.ipynb  •  Advanced_Analytics.ipynb  •  bluestock_mf.pbix  •  Final_Report.docx  •  recommender.py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Sources: AMFI India  •  mfapi.in  •  NSE/BSE Public Records  |  All data is publicly available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C8972B"/>
          </a:solidFill>
          <a:ln w="12700">
            <a:solidFill>
              <a:srgbClr val="C8972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1671</Words>
  <Application>Microsoft Office PowerPoint</Application>
  <PresentationFormat>On-screen Show (16:9)</PresentationFormat>
  <Paragraphs>210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Platform</dc:title>
  <dc:subject>PptxGenJS Presentation</dc:subject>
  <dc:creator>Bluestock Fintech Capstone</dc:creator>
  <cp:lastModifiedBy>VRINDESH PAREEK</cp:lastModifiedBy>
  <cp:revision>4</cp:revision>
  <dcterms:created xsi:type="dcterms:W3CDTF">2026-06-14T15:54:57Z</dcterms:created>
  <dcterms:modified xsi:type="dcterms:W3CDTF">2026-06-15T10:30:37Z</dcterms:modified>
</cp:coreProperties>
</file>